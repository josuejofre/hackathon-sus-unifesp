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0A599"/>
          </a:solidFill>
          <a:ln>
            <a:solidFill>
              <a:srgbClr val="00A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601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A599"/>
                </a:solidFill>
                <a:latin typeface="Arial"/>
              </a:defRPr>
            </a:pPr>
            <a:r>
              <a:t>HACKATHON SAÚDE DIGITAL UNIFESP 2026 • DESAFIO 2</a:t>
            </a:r>
          </a:p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Business Model Canvas</a:t>
            </a:r>
          </a:p>
          <a:p>
            <a:pPr>
              <a:spcBef>
                <a:spcPts val="800"/>
              </a:spcBef>
              <a:spcAft>
                <a:spcPts val="2800"/>
              </a:spcAft>
              <a:defRPr sz="2000">
                <a:solidFill>
                  <a:srgbClr val="CBD5E1"/>
                </a:solidFill>
                <a:latin typeface="Arial"/>
              </a:defRPr>
            </a:pPr>
            <a:r>
              <a:t>SUSAssist: Capacitação Permanente em Tecnologia Assistiva (Órteses e Próteses)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Modelagem de negócios orientada ao impacto no SUS, viabilidade técnica, sustentabilidade financeira e segurança de dados (LGPD).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601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4F9F"/>
                </a:solidFill>
                <a:latin typeface="Arial"/>
              </a:defRPr>
            </a:pPr>
            <a:r>
              <a:t>Business Model Canvas — SUSAssist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Plataforma de Microlearning Adaptativo e Suporte Clínico por IA para Atenção Primária do 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2218334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1. PARCERIAS-CHAVE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03545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Ministério da Saúde (SGTES): fomento &amp; homologação no AVASUS.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UNIFESP &amp; Universidades: curadoria científica em Órteses e Próteses.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CERs (Centros Esp. Reabilitação): apoio a simulações e feedback de fluxo.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CONASEMS / COSEMS: articulação junto a Secretarias Municipais.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Conselhos (CREFITO, CFM, COFEN): chancela e horas de 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6390" y="822960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1211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783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2. ATIVIDADES-CHAVE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7830" y="1234440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Curadoria pedagógica de microlearning em O&amp;P (3-5 min).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Treinamento RAG/IA da assistente Eva com portarias do SUS.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Desenvolvimento de simulações RPG 2D e WebXR VR.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Integração de APIs (Gov.br, e-SUS APS, AVASUS).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Monitoramento de engajamento e métricas de impacto.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66390" y="2898648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12110" y="2944368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7830" y="2962656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3. RECURSOS-CHAVE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7830" y="3310128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Base de conhecimento em O&amp;P e normativas MS.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Motor IA Eva (LLM RAG + guardrails LGPD).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Plataforma Web/PWA leve (uso offline 3G/4G).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Equipe multidisciplinar (Fisiatria, IA, Edu, UX).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7020" y="822960"/>
            <a:ext cx="2218334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12740" y="868680"/>
            <a:ext cx="2126894" cy="320040"/>
          </a:xfrm>
          <a:prstGeom prst="roundRect">
            <a:avLst/>
          </a:prstGeom>
          <a:solidFill>
            <a:srgbClr val="00A599"/>
          </a:solidFill>
          <a:ln>
            <a:solidFill>
              <a:srgbClr val="00A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846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4. PROPOSTA DE 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8460" y="1234440"/>
            <a:ext cx="203545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Profissionais APS: capacitação prática diária (3-5 min) + assistente IA 24/7 para apoio à decisão clínica em O&amp;P.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Gestores SUS: aumento da resolutividade na UBS, redução de filas no CER e otimização do gasto público.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Pacientes (PCD/Mobilidade): atendimento ágil, prescrição assertiva, menor abandono e prevenção de escaras.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Rede SUS: interoperabilidade (e-SUS/Gov.br), conformidade LGPD e alta escalabilidade nacional.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7650" y="822960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337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909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5. RELACIONAMENTO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9090" y="1234440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Eva Tutor IA: tirada de dúvidas 24/7 e feedback clínico imediato.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Gamificação: XP, badges (ex: Guardião da Postura) e micro-certificados.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Suporte contínuo &amp; canais de feedback pedagógico.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7650" y="2898648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3370" y="2944368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9090" y="2962656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6. CANAIS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0" y="3310128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Plataformas Oficiais: AVASUS e UNA-SUS.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e-SUS APS: módulo DSS (apoio à decisão no prontuário).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PWA SUSAssist: Web/Mobile (compatível offline).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Eventos CONASEMS/COSEMS &amp; redes InterPET.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8280" y="822960"/>
            <a:ext cx="2218334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1400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972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7. SEGMENTOS DE CLIENTES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0" y="1234440"/>
            <a:ext cx="203545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Clientes Compradores (B2G): Ministério da Saúde, Secretarias Estaduais e Municipais de Saúde (SES/SMS).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Usuários Finais (Profissionais APS): Médicos ESF, Fisioterapeutas, Terapeutas Ocupacionais, Enfermeiros e ACS.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Beneficiários Finais (Pacientes): Pessoas com deficiência (PCD) ou mobilidade reduzida atendidas pelo SUS.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974336"/>
            <a:ext cx="6819594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1480" y="5020056"/>
            <a:ext cx="6728154" cy="32004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038344"/>
            <a:ext cx="66367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8. ESTRUTURA DE CUSTOS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85816"/>
            <a:ext cx="6636714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Infraestrutura Cloud &amp; LLM API: hospedagem serverless, consumo de IA e CDN.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Desenvolvimento de Software &amp; Jogos: manutenção do PWA, engine RPG/VR e APIs de integração.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Curadoria &amp; Conteúdo Clínico: remuneração de especialistas de saúde e instrucionais.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Governança, Suporte &amp; LGPD: atendimento B2G, auditorias de segurança e treinamento.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7650" y="4974336"/>
            <a:ext cx="4518964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3370" y="5020056"/>
            <a:ext cx="4427524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59090" y="5038344"/>
            <a:ext cx="43360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9. FONTES DE RECEITA / FINANCIAMENTO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9090" y="5385816"/>
            <a:ext cx="4336084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Licenciamento B2G / EPS: contratos anuais com municípios/estados (Fundo Nac. de Saúde).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Editais de Inovação &amp; Fomento: FINEP, CNPq, DECIT/MS e programas de transformação digital.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Customização Regional: adaptação de fluxos regulatórios específicos por estado/município.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Parcerias ESG / Impacto: fomento institucional para ampliação de trilhas educacionais.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4F9F"/>
                </a:solidFill>
              </a:defRPr>
            </a:pPr>
            <a:r>
              <a:t>Detalhamento Estratégico do SUSAssist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Como o modelo de negócios responde diretamente aos critérios de avaliação do Hackathon Unifesp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73152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Impacto Clínico &amp; Social (30%)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Empoderamento da Atenção Primária para triagem e prescrição rápida.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Redução da taxa de abandono de cadeiras de rodas e órteses.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Prevenção de complicações graves (lesões por pressão e deformidades).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731520"/>
          </a:xfrm>
          <a:prstGeom prst="roundRect">
            <a:avLst/>
          </a:prstGeom>
          <a:solidFill>
            <a:srgbClr val="00A599"/>
          </a:solidFill>
          <a:ln>
            <a:solidFill>
              <a:srgbClr val="00A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Viabilidade Técnica (30%)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Arquitetura modular em microserviços integrável via LTI ao AVASUS.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Suporte à decisão clínica (DSS) conectável ao e-SUS APS.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Autenticação segura e unificada via Gov.br + CNES.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Segurança &amp; LGPD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Uso exclusivo de dados sintéticos nos simuladores clínicos.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Criptografia ponta a ponta (TLS) no tráfego de dados.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Termo de Consentimento Livre e Esclarecido (TCLE) digital.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Escalabilidade Nacional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PWA otimizado para baixas conexões (3G/4G) e funcionamento offline.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Flexibilidade para adaptação dos fluxos regulatórios regionais.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Capacitação contínua sem necessidade de afastar o profissional da UBS.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